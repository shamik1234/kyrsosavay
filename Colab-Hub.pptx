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4" r:id="rId11"/>
  </p:sldIdLst>
  <p:sldSz cx="14630400" cy="8229600"/>
  <p:notesSz cx="8229600" cy="14630400"/>
  <p:embeddedFontLst>
    <p:embeddedFont>
      <p:font typeface="Alexandria" panose="020B0604020202020204" charset="-78"/>
      <p:regular r:id="rId13"/>
    </p:embeddedFont>
    <p:embeddedFont>
      <p:font typeface="Bahnschrift SemiCondensed" panose="020B0502040204020203" pitchFamily="34" charset="0"/>
      <p:regular r:id="rId14"/>
      <p:bold r:id="rId15"/>
    </p:embeddedFont>
    <p:embeddedFont>
      <p:font typeface="Nirmala UI" panose="020B0502040204020203" pitchFamily="34" charset="0"/>
      <p:regular r:id="rId16"/>
      <p:bold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98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1DF50-D8EC-8091-C418-D3AEE453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7905F-7DBB-B643-68A6-47850A7BA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C082F-CBA5-13DD-8488-1FF419F8C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A286-32E6-EB45-72D7-186A67AE4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65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38551-F4A5-FE56-1500-76F4CC71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2DC2B-B288-F9C0-43C8-659203E63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B448-CF1B-EEC3-397B-C2CECAB3D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05316-2718-71CB-B7CB-6696EBC452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2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7D169D-F1B6-7D62-8DDB-593A8FA1A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9748"/>
            <a:ext cx="4397501" cy="4397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5351" y="750899"/>
            <a:ext cx="12399698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Colab Hub: </a:t>
            </a:r>
            <a:r>
              <a:rPr lang="ru-RU" sz="445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Простое и понятное м</a:t>
            </a:r>
            <a:r>
              <a:rPr lang="en-US" sz="445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ежвузовско</a:t>
            </a:r>
            <a:r>
              <a:rPr lang="ru-RU" sz="445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е</a:t>
            </a:r>
            <a:r>
              <a:rPr lang="en-US" sz="445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ru-RU" sz="445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с</a:t>
            </a:r>
            <a:r>
              <a:rPr lang="en-US" sz="445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отрудничеств</a:t>
            </a:r>
            <a:r>
              <a:rPr lang="ru-RU" sz="445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о</a:t>
            </a:r>
            <a:endParaRPr lang="en-US" sz="4450" dirty="0">
              <a:latin typeface="Bahnschrift SemiCondensed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96525" y="5585822"/>
            <a:ext cx="5225160" cy="201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Создаем единую цифровую среду для совместной работы над проектами для студентов всех </a:t>
            </a:r>
            <a:r>
              <a:rPr lang="en-US" sz="2400" dirty="0" err="1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вузов</a:t>
            </a:r>
            <a:r>
              <a:rPr lang="en-US" sz="24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России</a:t>
            </a:r>
            <a:r>
              <a:rPr lang="ru-RU" sz="24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решающую все проблемы, связанные с поиском и созданием проектов.</a:t>
            </a:r>
            <a:endParaRPr lang="en-US" sz="2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6" name="Рисунок 5" descr="Изображение выглядит как Шрифт, Графика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0875AF-32DB-2A63-116A-FD87AAB0C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773" y="2759459"/>
            <a:ext cx="6994276" cy="1670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CF04CCE-4FCD-F6C2-5BD1-74026232A500}"/>
              </a:ext>
            </a:extLst>
          </p:cNvPr>
          <p:cNvSpPr/>
          <p:nvPr/>
        </p:nvSpPr>
        <p:spPr>
          <a:xfrm>
            <a:off x="6520773" y="2770785"/>
            <a:ext cx="6994276" cy="167072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877894-0B8D-B9F8-A491-0F44C5D64B7E}"/>
              </a:ext>
            </a:extLst>
          </p:cNvPr>
          <p:cNvSpPr txBox="1"/>
          <p:nvPr/>
        </p:nvSpPr>
        <p:spPr>
          <a:xfrm>
            <a:off x="6520773" y="4488499"/>
            <a:ext cx="6994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ea typeface="Nirmala UI" panose="020B0502040204020203" pitchFamily="34" charset="0"/>
                <a:cs typeface="Nirmala UI" panose="020B0502040204020203" pitchFamily="34" charset="0"/>
              </a:rPr>
              <a:t>Платформа для студенческих проектов и коллабораций.</a:t>
            </a:r>
          </a:p>
          <a:p>
            <a:r>
              <a:rPr lang="ru-RU" dirty="0">
                <a:ea typeface="Nirmala UI" panose="020B0502040204020203" pitchFamily="34" charset="0"/>
                <a:cs typeface="Nirmala UI" panose="020B0502040204020203" pitchFamily="34" charset="0"/>
              </a:rPr>
              <a:t>Находите команду, реализуйте идеи, развивайтесь вместе!</a:t>
            </a:r>
          </a:p>
          <a:p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3A9733B-7917-BDEF-7FDA-726B5E2B81B0}"/>
              </a:ext>
            </a:extLst>
          </p:cNvPr>
          <p:cNvSpPr/>
          <p:nvPr/>
        </p:nvSpPr>
        <p:spPr>
          <a:xfrm>
            <a:off x="0" y="7767377"/>
            <a:ext cx="14630400" cy="4622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B0DA183-0384-F976-354E-5E8C0D96E15E}"/>
              </a:ext>
            </a:extLst>
          </p:cNvPr>
          <p:cNvCxnSpPr/>
          <p:nvPr/>
        </p:nvCxnSpPr>
        <p:spPr>
          <a:xfrm>
            <a:off x="6567895" y="5582870"/>
            <a:ext cx="0" cy="18454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1A270E-6105-71B6-ED8D-48E3C4A9BCAB}"/>
              </a:ext>
            </a:extLst>
          </p:cNvPr>
          <p:cNvSpPr/>
          <p:nvPr/>
        </p:nvSpPr>
        <p:spPr>
          <a:xfrm>
            <a:off x="0" y="0"/>
            <a:ext cx="14630400" cy="4622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077385" y="969460"/>
            <a:ext cx="11410701" cy="128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ru-RU" sz="48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Проблемы</a:t>
            </a:r>
            <a:r>
              <a:rPr lang="en-US" sz="48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48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cтуденческих</a:t>
            </a:r>
            <a:r>
              <a:rPr lang="en-US" sz="48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ru-RU" sz="48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п</a:t>
            </a:r>
            <a:r>
              <a:rPr lang="en-US" sz="48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роектов</a:t>
            </a:r>
            <a:r>
              <a:rPr lang="en-US" sz="48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ru-RU" sz="48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с</a:t>
            </a:r>
            <a:r>
              <a:rPr lang="en-US" sz="48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егодня</a:t>
            </a:r>
            <a:endParaRPr lang="en-US" sz="4800" dirty="0">
              <a:latin typeface="Bahnschrift SemiCondensed" panose="020B05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99943" y="3022759"/>
            <a:ext cx="3750350" cy="2543770"/>
          </a:xfrm>
          <a:prstGeom prst="roundRect">
            <a:avLst>
              <a:gd name="adj" fmla="val 4314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416732" y="3022759"/>
            <a:ext cx="91440" cy="2543770"/>
          </a:xfrm>
          <a:prstGeom prst="roundRect">
            <a:avLst>
              <a:gd name="adj" fmla="val 94358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718899" y="3166944"/>
            <a:ext cx="2567821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Поиск Команды</a:t>
            </a:r>
            <a:endParaRPr lang="en-US" sz="2400" b="1" dirty="0">
              <a:latin typeface="Bahnschrift SemiCondensed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2476" y="3632121"/>
            <a:ext cx="3225284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Сложно найти единомышленников и специалистов за пределами своего факультета или университета.</a:t>
            </a:r>
            <a:endParaRPr lang="en-US" sz="185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12133" y="3022759"/>
            <a:ext cx="3750469" cy="2543770"/>
          </a:xfrm>
          <a:prstGeom prst="roundRect">
            <a:avLst>
              <a:gd name="adj" fmla="val 4314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10412135" y="3022759"/>
            <a:ext cx="91440" cy="2543770"/>
          </a:xfrm>
          <a:prstGeom prst="roundRect">
            <a:avLst>
              <a:gd name="adj" fmla="val 94358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0648774" y="3166944"/>
            <a:ext cx="2765346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Отсутствие Площадки</a:t>
            </a:r>
            <a:endParaRPr lang="en-US" sz="2400" b="1" dirty="0">
              <a:latin typeface="Bahnschrift SemiCondensed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674665" y="3637419"/>
            <a:ext cx="3225403" cy="985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Нет централизованного места для поиска идей, проектов и обмена опытом.</a:t>
            </a:r>
            <a:endParaRPr lang="en-US" sz="185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424249" y="3052822"/>
            <a:ext cx="3750350" cy="2536150"/>
          </a:xfrm>
          <a:prstGeom prst="roundRect">
            <a:avLst>
              <a:gd name="adj" fmla="val 4327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5378529" y="3052822"/>
            <a:ext cx="91440" cy="2536150"/>
          </a:xfrm>
          <a:prstGeom prst="roundRect">
            <a:avLst>
              <a:gd name="adj" fmla="val 94358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5632833" y="3166943"/>
            <a:ext cx="3225284" cy="64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Ограниченный Потенциал</a:t>
            </a:r>
            <a:endParaRPr lang="en-US" sz="2400" b="1" dirty="0">
              <a:latin typeface="Bahnschrift SemiCondensed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641061" y="3637419"/>
            <a:ext cx="3225284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Теряется возможность межвузовского сотрудничества, ограничивая качество и масштаб проектов.</a:t>
            </a:r>
            <a:endParaRPr lang="en-US" sz="185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1" name="Рисунок 20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2E470E-88EE-4043-359A-2E64AE2F8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065" y="3175037"/>
            <a:ext cx="201452" cy="201452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E77787-FBF3-E9E7-483F-DA62F9C4E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05" y="3178148"/>
            <a:ext cx="201452" cy="201452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784C77-A196-4663-B49A-84F0C643E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861" y="3178148"/>
            <a:ext cx="201452" cy="201452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5B58CC9-77B8-A382-B81E-7F79FBDA5844}"/>
              </a:ext>
            </a:extLst>
          </p:cNvPr>
          <p:cNvSpPr/>
          <p:nvPr/>
        </p:nvSpPr>
        <p:spPr>
          <a:xfrm>
            <a:off x="0" y="7747279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E6D036A-195B-CB11-7157-F8287F7F3E22}"/>
              </a:ext>
            </a:extLst>
          </p:cNvPr>
          <p:cNvSpPr/>
          <p:nvPr/>
        </p:nvSpPr>
        <p:spPr>
          <a:xfrm>
            <a:off x="0" y="3010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">
            <a:extLst>
              <a:ext uri="{FF2B5EF4-FFF2-40B4-BE49-F238E27FC236}">
                <a16:creationId xmlns:a16="http://schemas.microsoft.com/office/drawing/2014/main" id="{D4C50F69-C410-6B9E-1124-75DF2996897B}"/>
              </a:ext>
            </a:extLst>
          </p:cNvPr>
          <p:cNvSpPr/>
          <p:nvPr/>
        </p:nvSpPr>
        <p:spPr>
          <a:xfrm>
            <a:off x="806384" y="6167009"/>
            <a:ext cx="613896" cy="705564"/>
          </a:xfrm>
          <a:prstGeom prst="roundRect">
            <a:avLst>
              <a:gd name="adj" fmla="val 5000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49CACDF9-FE1C-6485-560D-3C579445BCED}"/>
              </a:ext>
            </a:extLst>
          </p:cNvPr>
          <p:cNvSpPr/>
          <p:nvPr/>
        </p:nvSpPr>
        <p:spPr>
          <a:xfrm>
            <a:off x="806384" y="4308787"/>
            <a:ext cx="613896" cy="705564"/>
          </a:xfrm>
          <a:prstGeom prst="roundRect">
            <a:avLst>
              <a:gd name="adj" fmla="val 5000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0"/>
          <p:cNvSpPr/>
          <p:nvPr/>
        </p:nvSpPr>
        <p:spPr>
          <a:xfrm>
            <a:off x="1343665" y="667184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Colab Hub: </a:t>
            </a:r>
            <a:r>
              <a:rPr lang="en-US" sz="43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Интерактивное</a:t>
            </a:r>
            <a:r>
              <a:rPr lang="en-US" sz="43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ru-RU" sz="43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р</a:t>
            </a:r>
            <a:r>
              <a:rPr lang="en-US" sz="43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ешение</a:t>
            </a:r>
            <a:endParaRPr lang="en-US" sz="4300" dirty="0">
              <a:latin typeface="Bahnschrift SemiCondensed" panose="020B05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06384" y="2550028"/>
            <a:ext cx="613896" cy="705564"/>
          </a:xfrm>
          <a:prstGeom prst="roundRect">
            <a:avLst>
              <a:gd name="adj" fmla="val 5000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1055572" y="2783932"/>
            <a:ext cx="385822" cy="413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600" b="1" dirty="0"/>
          </a:p>
        </p:txBody>
      </p:sp>
      <p:sp>
        <p:nvSpPr>
          <p:cNvPr id="6" name="Text 3"/>
          <p:cNvSpPr/>
          <p:nvPr/>
        </p:nvSpPr>
        <p:spPr>
          <a:xfrm>
            <a:off x="1582522" y="2364531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Создание Проектов</a:t>
            </a:r>
            <a:endParaRPr lang="en-US" sz="2400" b="1" dirty="0">
              <a:latin typeface="Bahnschrift SemiCondensed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97687" y="2844535"/>
            <a:ext cx="6498431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Студент с идеей может быстро найти команду, указав необходимые навыки.</a:t>
            </a:r>
            <a:endParaRPr lang="en-US" sz="2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13028" y="4530865"/>
            <a:ext cx="330637" cy="413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600" b="1" dirty="0"/>
          </a:p>
        </p:txBody>
      </p:sp>
      <p:sp>
        <p:nvSpPr>
          <p:cNvPr id="10" name="Text 7"/>
          <p:cNvSpPr/>
          <p:nvPr/>
        </p:nvSpPr>
        <p:spPr>
          <a:xfrm>
            <a:off x="1582522" y="4186417"/>
            <a:ext cx="3771424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Присоединение к Проектам</a:t>
            </a:r>
            <a:endParaRPr lang="en-US" sz="2400" b="1" dirty="0">
              <a:latin typeface="Bahnschrift SemiCondensed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597687" y="4674755"/>
            <a:ext cx="6498431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Студент, желающий получить опыт, легко найдет интересный проект.</a:t>
            </a:r>
            <a:endParaRPr lang="en-US" sz="2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13028" y="6383769"/>
            <a:ext cx="330637" cy="413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600" b="1" dirty="0"/>
          </a:p>
        </p:txBody>
      </p:sp>
      <p:sp>
        <p:nvSpPr>
          <p:cNvPr id="14" name="Text 11"/>
          <p:cNvSpPr/>
          <p:nvPr/>
        </p:nvSpPr>
        <p:spPr>
          <a:xfrm>
            <a:off x="1597687" y="604998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Стирание Границ</a:t>
            </a:r>
            <a:endParaRPr lang="en-US" sz="2400" b="1" dirty="0">
              <a:latin typeface="Bahnschrift SemiCondensed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97687" y="6504975"/>
            <a:ext cx="6498431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Объединение лучших специалистов из разных вузов для общих целей.</a:t>
            </a:r>
            <a:endParaRPr lang="en-US" sz="2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38E151A-5B2D-A4BF-4F2D-12D37B2D2B3C}"/>
              </a:ext>
            </a:extLst>
          </p:cNvPr>
          <p:cNvSpPr/>
          <p:nvPr/>
        </p:nvSpPr>
        <p:spPr>
          <a:xfrm>
            <a:off x="0" y="7747279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6E92343-EE5A-8BAD-AED7-64468CE7EA11}"/>
              </a:ext>
            </a:extLst>
          </p:cNvPr>
          <p:cNvSpPr/>
          <p:nvPr/>
        </p:nvSpPr>
        <p:spPr>
          <a:xfrm>
            <a:off x="0" y="-13249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2160AC9-F3F1-F151-7D2E-9C6AF0904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068" y="1616215"/>
            <a:ext cx="5762625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9445" y="800294"/>
            <a:ext cx="944880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Как Работает Colab Hub: </a:t>
            </a:r>
            <a:r>
              <a:rPr lang="ru-RU" sz="40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и</a:t>
            </a:r>
            <a:r>
              <a:rPr lang="en-US" sz="40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нтуитивный</a:t>
            </a:r>
            <a:r>
              <a:rPr lang="en-US" sz="40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ru-RU" sz="40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и</a:t>
            </a:r>
            <a:r>
              <a:rPr lang="en-US" sz="40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нтерфейс</a:t>
            </a:r>
            <a:endParaRPr lang="en-US" sz="4000" dirty="0">
              <a:latin typeface="Bahnschrift SemiCondensed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539603" y="1875121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ru-RU" sz="2800" b="1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Визуально понятные решения</a:t>
            </a:r>
            <a:endParaRPr lang="en-US" sz="2800" b="1" dirty="0">
              <a:latin typeface="Bahnschrift SemiCondensed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238640" y="4639033"/>
            <a:ext cx="520231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  <a:buSzPct val="100000"/>
            </a:pPr>
            <a:r>
              <a:rPr lang="ru-RU" sz="2000" b="1" dirty="0">
                <a:ea typeface="Nirmala UI" panose="020B0502040204020203" pitchFamily="34" charset="0"/>
                <a:cs typeface="Nirmala UI" panose="020B0502040204020203" pitchFamily="34" charset="0"/>
              </a:rPr>
              <a:t>· </a:t>
            </a:r>
            <a:r>
              <a:rPr lang="en-US" sz="2000" b="1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Четкий</a:t>
            </a: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2000" b="1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заголовок</a:t>
            </a:r>
            <a:r>
              <a:rPr lang="ru-RU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и цель</a:t>
            </a:r>
            <a:endParaRPr lang="en-US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238640" y="2687022"/>
            <a:ext cx="3895375" cy="686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  <a:buSzPct val="100000"/>
            </a:pPr>
            <a:r>
              <a:rPr lang="ru-RU" sz="2000" b="1" dirty="0">
                <a:ea typeface="Nirmala UI" panose="020B0502040204020203" pitchFamily="34" charset="0"/>
                <a:cs typeface="Nirmala UI" panose="020B0502040204020203" pitchFamily="34" charset="0"/>
              </a:rPr>
              <a:t>· </a:t>
            </a:r>
            <a:r>
              <a:rPr lang="en-US" sz="2000" b="1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Две</a:t>
            </a: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основные кнопки:</a:t>
            </a: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«Создать </a:t>
            </a:r>
            <a:r>
              <a:rPr lang="en-US" sz="2000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проект</a:t>
            </a: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»</a:t>
            </a:r>
            <a:endParaRPr lang="ru-RU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>
              <a:lnSpc>
                <a:spcPts val="1900"/>
              </a:lnSpc>
              <a:buSzPct val="100000"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и «Найти проект»</a:t>
            </a:r>
          </a:p>
        </p:txBody>
      </p:sp>
      <p:sp>
        <p:nvSpPr>
          <p:cNvPr id="7" name="Text 4"/>
          <p:cNvSpPr/>
          <p:nvPr/>
        </p:nvSpPr>
        <p:spPr>
          <a:xfrm>
            <a:off x="9238641" y="5456649"/>
            <a:ext cx="520231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  <a:buSzPct val="100000"/>
            </a:pPr>
            <a:r>
              <a:rPr lang="ru-RU" sz="2000" b="1" dirty="0">
                <a:ea typeface="Nirmala UI" panose="020B0502040204020203" pitchFamily="34" charset="0"/>
                <a:cs typeface="Nirmala UI" panose="020B0502040204020203" pitchFamily="34" charset="0"/>
              </a:rPr>
              <a:t>· </a:t>
            </a:r>
            <a:r>
              <a:rPr lang="en-US" sz="2000" b="1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Ключевая</a:t>
            </a: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статистика</a:t>
            </a: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в реальном времени</a:t>
            </a:r>
          </a:p>
        </p:txBody>
      </p:sp>
      <p:sp>
        <p:nvSpPr>
          <p:cNvPr id="8" name="Text 5"/>
          <p:cNvSpPr/>
          <p:nvPr/>
        </p:nvSpPr>
        <p:spPr>
          <a:xfrm>
            <a:off x="9238641" y="3777261"/>
            <a:ext cx="2763385" cy="1733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  <a:buSzPct val="100000"/>
            </a:pPr>
            <a:r>
              <a:rPr lang="ru-RU" sz="2000" b="1" dirty="0">
                <a:ea typeface="Nirmala UI" panose="020B0502040204020203" pitchFamily="34" charset="0"/>
                <a:cs typeface="Nirmala UI" panose="020B0502040204020203" pitchFamily="34" charset="0"/>
              </a:rPr>
              <a:t>· </a:t>
            </a:r>
            <a:r>
              <a:rPr lang="en-US" sz="2000" b="1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Лента</a:t>
            </a: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последних </a:t>
            </a:r>
            <a:r>
              <a:rPr lang="en-US" sz="2000" b="1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проектов</a:t>
            </a: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с </a:t>
            </a:r>
            <a:r>
              <a:rPr lang="en-US" sz="2000" dirty="0" err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информацией</a:t>
            </a:r>
            <a:endParaRPr lang="en-US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0" name="Рисунок 9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B36370-F072-7AE5-A764-682B95A745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30"/>
          <a:stretch>
            <a:fillRect/>
          </a:stretch>
        </p:blipFill>
        <p:spPr>
          <a:xfrm>
            <a:off x="140677" y="2066127"/>
            <a:ext cx="8657956" cy="4080789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1DB966A-0FD3-CD8E-2994-DCFD33733BCB}"/>
              </a:ext>
            </a:extLst>
          </p:cNvPr>
          <p:cNvSpPr/>
          <p:nvPr/>
        </p:nvSpPr>
        <p:spPr>
          <a:xfrm>
            <a:off x="0" y="7747279"/>
            <a:ext cx="14630400" cy="48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63E4035-EA51-A1E8-8D7A-81BA76E1C5B7}"/>
              </a:ext>
            </a:extLst>
          </p:cNvPr>
          <p:cNvSpPr/>
          <p:nvPr/>
        </p:nvSpPr>
        <p:spPr>
          <a:xfrm>
            <a:off x="0" y="-16556"/>
            <a:ext cx="14630400" cy="48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0258B4-D6C5-E76F-6A5B-D3729A001FD2}"/>
              </a:ext>
            </a:extLst>
          </p:cNvPr>
          <p:cNvSpPr/>
          <p:nvPr/>
        </p:nvSpPr>
        <p:spPr>
          <a:xfrm>
            <a:off x="140677" y="2095736"/>
            <a:ext cx="8657956" cy="408078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6600" y="753167"/>
            <a:ext cx="98045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Преимущества </a:t>
            </a:r>
            <a:r>
              <a:rPr lang="en-US" sz="4450" b="1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Colab Hub </a:t>
            </a:r>
            <a:r>
              <a:rPr lang="en-US" sz="445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для Всех</a:t>
            </a:r>
            <a:endParaRPr lang="en-US" sz="4450" dirty="0">
              <a:latin typeface="Bahnschrift SemiCondensed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0667" y="34524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200" dirty="0"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Для </a:t>
            </a:r>
            <a:r>
              <a:rPr lang="en-US" sz="3200" b="1" dirty="0"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Студента</a:t>
            </a:r>
            <a:endParaRPr lang="en-US" sz="3200" b="1" dirty="0">
              <a:latin typeface="Bahnschrift SemiCondensed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0756" y="3994185"/>
            <a:ext cx="3785235" cy="1327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Реальный опыт, портфолио, нетворкинг и реализация идей</a:t>
            </a:r>
            <a:r>
              <a:rPr lang="en-US" sz="175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  <a:endParaRPr lang="en-US" sz="175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991" y="1895824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2110" y="3862420"/>
            <a:ext cx="631782" cy="6317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60819" y="1922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Для </a:t>
            </a:r>
            <a:r>
              <a:rPr lang="en-US" sz="3200" b="1" dirty="0"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Вуза</a:t>
            </a:r>
            <a:endParaRPr lang="en-US" sz="3200" b="1" dirty="0">
              <a:latin typeface="Bahnschrift SemiCondensed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944585" y="2349634"/>
            <a:ext cx="42389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Повышение вовлеченности, межфакультетское взаимодействие, рост практических результатов.</a:t>
            </a:r>
            <a:endParaRPr lang="en-US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680" y="1861207"/>
            <a:ext cx="4640286" cy="464028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54321" y="2685147"/>
            <a:ext cx="676109" cy="67610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38847" y="46577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Для </a:t>
            </a:r>
            <a:r>
              <a:rPr lang="en-US" sz="3200" b="1" dirty="0"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Индустрии</a:t>
            </a:r>
            <a:endParaRPr lang="en-US" sz="3200" b="1" dirty="0">
              <a:latin typeface="Bahnschrift SemiCondensed" panose="020B0502040204020203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052981" y="5140211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Возможность находить таланты и готовые проекты на ранней стадии.</a:t>
            </a:r>
            <a:endParaRPr lang="en-US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6196" y="1861207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03383" y="4826688"/>
            <a:ext cx="627047" cy="627047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A2F16E7-4391-6E4B-0CF8-52BB3C5247B1}"/>
              </a:ext>
            </a:extLst>
          </p:cNvPr>
          <p:cNvSpPr/>
          <p:nvPr/>
        </p:nvSpPr>
        <p:spPr>
          <a:xfrm>
            <a:off x="0" y="-20305"/>
            <a:ext cx="14630400" cy="48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EC5AA2E-A971-7765-C172-5D420294C7DE}"/>
              </a:ext>
            </a:extLst>
          </p:cNvPr>
          <p:cNvSpPr/>
          <p:nvPr/>
        </p:nvSpPr>
        <p:spPr>
          <a:xfrm>
            <a:off x="0" y="7747279"/>
            <a:ext cx="14630400" cy="48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57ECDE92-0015-5FE6-3BBC-2FED648B2D67}"/>
              </a:ext>
            </a:extLst>
          </p:cNvPr>
          <p:cNvCxnSpPr/>
          <p:nvPr/>
        </p:nvCxnSpPr>
        <p:spPr>
          <a:xfrm>
            <a:off x="9726804" y="1461946"/>
            <a:ext cx="121585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68061" y="774691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Наши</a:t>
            </a:r>
            <a:r>
              <a:rPr lang="en-US" sz="43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ru-RU" sz="43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дальн</a:t>
            </a:r>
            <a:r>
              <a:rPr lang="en-US" sz="43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е</a:t>
            </a:r>
            <a:r>
              <a:rPr lang="ru-RU" sz="43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йшие</a:t>
            </a:r>
            <a:r>
              <a:rPr lang="en-US" sz="43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ru-RU" sz="43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ш</a:t>
            </a:r>
            <a:r>
              <a:rPr lang="en-US" sz="4300" dirty="0" err="1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аги</a:t>
            </a:r>
            <a:r>
              <a:rPr lang="ru-RU" sz="43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:</a:t>
            </a:r>
            <a:endParaRPr lang="en-US" sz="4300" dirty="0">
              <a:latin typeface="Bahnschrift SemiCondensed" panose="020B0502040204020203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421" y="2009351"/>
            <a:ext cx="661392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46763" y="2020595"/>
            <a:ext cx="3145155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Развитие Функционала</a:t>
            </a:r>
            <a:endParaRPr lang="en-US" sz="2400" dirty="0">
              <a:latin typeface="Bahnschrift SemiCondensed" panose="020B0502040204020203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446763" y="2471227"/>
            <a:ext cx="6718935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ru-RU" sz="2400" b="1" dirty="0"/>
              <a:t>·</a:t>
            </a:r>
            <a:r>
              <a:rPr lang="ru-RU" b="1" dirty="0"/>
              <a:t> </a:t>
            </a:r>
            <a:r>
              <a:rPr lang="en-US" sz="2000" dirty="0" err="1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Система</a:t>
            </a:r>
            <a:r>
              <a:rPr lang="en-US" sz="20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уведомлений, чаты, продвинутый поиск и новые инструменты для командной работы.</a:t>
            </a:r>
            <a:endParaRPr lang="en-US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061" y="3733931"/>
            <a:ext cx="661392" cy="1143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46763" y="374687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Масштабирование</a:t>
            </a:r>
            <a:endParaRPr lang="en-US" sz="2400" dirty="0">
              <a:latin typeface="Bahnschrift SemiCondensed" panose="020B0502040204020203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446763" y="4184312"/>
            <a:ext cx="6388298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ru-RU" sz="2400" b="1" dirty="0"/>
              <a:t>·</a:t>
            </a:r>
            <a:r>
              <a:rPr lang="ru-RU" b="1" dirty="0"/>
              <a:t> </a:t>
            </a:r>
            <a:r>
              <a:rPr lang="en-US" sz="2000" dirty="0" err="1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Активное</a:t>
            </a:r>
            <a:r>
              <a:rPr lang="en-US" sz="20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привлечение студентов и вузов со всей России.</a:t>
            </a:r>
            <a:endParaRPr lang="en-US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061" y="5564386"/>
            <a:ext cx="661392" cy="1143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46763" y="5559375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Партнерства</a:t>
            </a:r>
            <a:endParaRPr lang="en-US" sz="2400" dirty="0">
              <a:latin typeface="Bahnschrift SemiCondensed" panose="020B0502040204020203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446763" y="6013570"/>
            <a:ext cx="6057543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ru-RU" sz="2400" b="1" dirty="0"/>
              <a:t>·</a:t>
            </a:r>
            <a:r>
              <a:rPr lang="ru-RU" b="1" dirty="0"/>
              <a:t> </a:t>
            </a:r>
            <a:r>
              <a:rPr lang="en-US" sz="2000" dirty="0" err="1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Сотрудничество</a:t>
            </a:r>
            <a:r>
              <a:rPr lang="en-US" sz="20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с компаниями для размещения реальных кейсов и стажировок.</a:t>
            </a:r>
            <a:endParaRPr lang="en-US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4" name="Рисунок 13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E877FC-D9E1-5BCA-D919-159B5EB3B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06" y="5559375"/>
            <a:ext cx="1143000" cy="114300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22991E-AA3B-0F66-43D2-B080AD1E7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470" y="2033790"/>
            <a:ext cx="1143001" cy="1143001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12ECCE-4FD7-DC45-FD9D-0EC99D439A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471" y="3746876"/>
            <a:ext cx="1143000" cy="1143000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3D9BC2D-92D3-2B1C-DB6F-727D665F1E3A}"/>
              </a:ext>
            </a:extLst>
          </p:cNvPr>
          <p:cNvSpPr/>
          <p:nvPr/>
        </p:nvSpPr>
        <p:spPr>
          <a:xfrm>
            <a:off x="0" y="-3664"/>
            <a:ext cx="14630400" cy="48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24E089F-9AF2-9C97-7821-84E78A676BA8}"/>
              </a:ext>
            </a:extLst>
          </p:cNvPr>
          <p:cNvSpPr/>
          <p:nvPr/>
        </p:nvSpPr>
        <p:spPr>
          <a:xfrm>
            <a:off x="0" y="7747279"/>
            <a:ext cx="14630400" cy="48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090A39D3-BFE7-9262-91C0-3D438AC07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760" y="2642017"/>
            <a:ext cx="5443549" cy="308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CE4F662-D681-B548-526E-196AE0F57342}"/>
              </a:ext>
            </a:extLst>
          </p:cNvPr>
          <p:cNvSpPr/>
          <p:nvPr/>
        </p:nvSpPr>
        <p:spPr>
          <a:xfrm>
            <a:off x="9075822" y="2672610"/>
            <a:ext cx="5443549" cy="30881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9993001-B02F-9876-AB83-64AAD78ECFF7}"/>
              </a:ext>
            </a:extLst>
          </p:cNvPr>
          <p:cNvSpPr/>
          <p:nvPr/>
        </p:nvSpPr>
        <p:spPr>
          <a:xfrm>
            <a:off x="10232330" y="4075381"/>
            <a:ext cx="3498666" cy="107500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4D2E291C-016B-AC80-67C8-76DB00F32B86}"/>
              </a:ext>
            </a:extLst>
          </p:cNvPr>
          <p:cNvSpPr/>
          <p:nvPr/>
        </p:nvSpPr>
        <p:spPr>
          <a:xfrm>
            <a:off x="5547481" y="4075381"/>
            <a:ext cx="3498666" cy="107500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6A2A300-91FF-5AA6-0BA1-86B5D9F00FB0}"/>
              </a:ext>
            </a:extLst>
          </p:cNvPr>
          <p:cNvSpPr/>
          <p:nvPr/>
        </p:nvSpPr>
        <p:spPr>
          <a:xfrm>
            <a:off x="1248881" y="4075381"/>
            <a:ext cx="3498666" cy="107500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2854827" y="1566546"/>
            <a:ext cx="9207222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5400" b="1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Colab Hub</a:t>
            </a:r>
            <a:r>
              <a:rPr lang="en-US" sz="54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: </a:t>
            </a:r>
            <a:r>
              <a:rPr lang="ru-RU" sz="54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Важнейшее решение</a:t>
            </a:r>
            <a:endParaRPr lang="en-US" sz="5400" dirty="0">
              <a:latin typeface="Bahnschrift SemiCondensed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88646" y="3429874"/>
            <a:ext cx="4124087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Это</a:t>
            </a:r>
            <a:r>
              <a:rPr lang="en-US" sz="3200" b="1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3200" b="1" dirty="0">
                <a:solidFill>
                  <a:srgbClr val="1B54DA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Сообщество</a:t>
            </a:r>
            <a:endParaRPr lang="en-US" sz="3200" b="1" dirty="0">
              <a:latin typeface="Bahnschrift SemiCondensed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83138" y="4120581"/>
            <a:ext cx="3364409" cy="116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Целеустремленных студентов, готовых к совместному творчеству.</a:t>
            </a:r>
            <a:endParaRPr lang="en-US" sz="2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810488" y="3412323"/>
            <a:ext cx="4124087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Это</a:t>
            </a:r>
            <a:r>
              <a:rPr lang="en-US" sz="3200" b="1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3200" b="1" dirty="0">
                <a:solidFill>
                  <a:srgbClr val="1B54DA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Инструмент</a:t>
            </a:r>
            <a:endParaRPr lang="en-US" sz="3200" b="1" dirty="0">
              <a:latin typeface="Bahnschrift SemiCondensed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32996" y="4120619"/>
            <a:ext cx="3364408" cy="161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Для превращения смелых идей в реальные, значимые проекты.</a:t>
            </a:r>
            <a:endParaRPr lang="en-US" sz="2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41101" y="3423729"/>
            <a:ext cx="4124087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Это </a:t>
            </a:r>
            <a:r>
              <a:rPr lang="en-US" sz="3200" b="1" dirty="0">
                <a:solidFill>
                  <a:srgbClr val="1B54DA"/>
                </a:solidFill>
                <a:latin typeface="Bahnschrift SemiCondensed" panose="020B0502040204020203" pitchFamily="34" charset="0"/>
                <a:ea typeface="Alexandria" pitchFamily="34" charset="-122"/>
                <a:cs typeface="Alexandria" pitchFamily="34" charset="-120"/>
              </a:rPr>
              <a:t>Мост</a:t>
            </a:r>
            <a:endParaRPr lang="en-US" sz="3200" b="1" dirty="0">
              <a:latin typeface="Bahnschrift SemiCondensed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345859" y="4114265"/>
            <a:ext cx="3271607" cy="111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Между академическим образованием и практическим опытом.</a:t>
            </a:r>
            <a:endParaRPr lang="en-US" sz="2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1" name="Рисунок 10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B085E0-1299-169B-66A1-442FD834B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69" y="3518639"/>
            <a:ext cx="338012" cy="338012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EB332D-3D28-7259-C6BB-ADDB0531B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27" y="3511221"/>
            <a:ext cx="338012" cy="338012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AFFF471-1BBF-FE77-BC9F-7CA0F90DA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324" y="3511221"/>
            <a:ext cx="338012" cy="338012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87CDB97-7D46-6D56-0D36-FE2597A8B82D}"/>
              </a:ext>
            </a:extLst>
          </p:cNvPr>
          <p:cNvSpPr/>
          <p:nvPr/>
        </p:nvSpPr>
        <p:spPr>
          <a:xfrm>
            <a:off x="0" y="7747279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71D3585-1573-DBF0-0B73-EDE25D7D8637}"/>
              </a:ext>
            </a:extLst>
          </p:cNvPr>
          <p:cNvSpPr/>
          <p:nvPr/>
        </p:nvSpPr>
        <p:spPr>
          <a:xfrm>
            <a:off x="0" y="0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BB204-A399-A8AC-FD6D-145322003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B9C8EBB-4E92-E763-81BA-D5D303F09FB5}"/>
              </a:ext>
            </a:extLst>
          </p:cNvPr>
          <p:cNvSpPr/>
          <p:nvPr/>
        </p:nvSpPr>
        <p:spPr>
          <a:xfrm>
            <a:off x="0" y="7747279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8E7EE7F-C396-C3A3-2D21-DDA60BAB18C0}"/>
              </a:ext>
            </a:extLst>
          </p:cNvPr>
          <p:cNvSpPr/>
          <p:nvPr/>
        </p:nvSpPr>
        <p:spPr>
          <a:xfrm>
            <a:off x="0" y="0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B45E9F-F7D5-BA98-236F-D107501E9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473" y="1331205"/>
            <a:ext cx="7086898" cy="60270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EE7951-488C-99D2-2C36-D1D02F49A6EE}"/>
              </a:ext>
            </a:extLst>
          </p:cNvPr>
          <p:cNvSpPr txBox="1"/>
          <p:nvPr/>
        </p:nvSpPr>
        <p:spPr>
          <a:xfrm>
            <a:off x="5040086" y="482321"/>
            <a:ext cx="495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Bahnschrift SemiCondensed" panose="020B0502040204020203" pitchFamily="34" charset="0"/>
              </a:rPr>
              <a:t>Архитектура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61679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9E93C-D860-7397-45CC-DEE0E314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197C039-539D-9BC6-D142-D993AB20E74F}"/>
              </a:ext>
            </a:extLst>
          </p:cNvPr>
          <p:cNvSpPr/>
          <p:nvPr/>
        </p:nvSpPr>
        <p:spPr>
          <a:xfrm>
            <a:off x="0" y="7747279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754587E-0293-0648-5E37-FA6ABAB42B09}"/>
              </a:ext>
            </a:extLst>
          </p:cNvPr>
          <p:cNvSpPr/>
          <p:nvPr/>
        </p:nvSpPr>
        <p:spPr>
          <a:xfrm>
            <a:off x="0" y="0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6B3AD-2E8A-2AF2-F65A-5C7D6C9B944D}"/>
              </a:ext>
            </a:extLst>
          </p:cNvPr>
          <p:cNvSpPr txBox="1"/>
          <p:nvPr/>
        </p:nvSpPr>
        <p:spPr>
          <a:xfrm>
            <a:off x="5192487" y="482321"/>
            <a:ext cx="6455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Bahnschrift SemiCondensed" panose="020B0502040204020203" pitchFamily="34" charset="0"/>
              </a:rPr>
              <a:t>Технологический стек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C0857-A6B8-3E43-A34D-AEDA56CD567C}"/>
              </a:ext>
            </a:extLst>
          </p:cNvPr>
          <p:cNvSpPr txBox="1"/>
          <p:nvPr/>
        </p:nvSpPr>
        <p:spPr>
          <a:xfrm>
            <a:off x="729343" y="1611085"/>
            <a:ext cx="1992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 SemiCondensed" panose="020B0502040204020203" pitchFamily="34" charset="0"/>
              </a:rPr>
              <a:t>Backend:</a:t>
            </a:r>
            <a:endParaRPr lang="ru-RU" sz="2400" dirty="0">
              <a:latin typeface="Bahnschrift Semi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0CB27-AD71-CA21-7147-F93E23A5B4F6}"/>
              </a:ext>
            </a:extLst>
          </p:cNvPr>
          <p:cNvSpPr txBox="1"/>
          <p:nvPr/>
        </p:nvSpPr>
        <p:spPr>
          <a:xfrm>
            <a:off x="729343" y="2405743"/>
            <a:ext cx="39297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200000"/>
              </a:lnSpc>
            </a:pPr>
            <a:r>
              <a:rPr lang="ru-RU" dirty="0">
                <a:latin typeface="Bahnschrift SemiCondensed" panose="020B0502040204020203" pitchFamily="34" charset="0"/>
              </a:rPr>
              <a:t>• Язык программирования: </a:t>
            </a:r>
            <a:r>
              <a:rPr lang="en-US" dirty="0">
                <a:latin typeface="Bahnschrift SemiCondensed" panose="020B0502040204020203" pitchFamily="34" charset="0"/>
              </a:rPr>
              <a:t>Python 3.11</a:t>
            </a:r>
          </a:p>
          <a:p>
            <a:pPr latinLnBrk="1">
              <a:lnSpc>
                <a:spcPct val="20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• </a:t>
            </a:r>
            <a:r>
              <a:rPr lang="ru-RU" dirty="0">
                <a:latin typeface="Bahnschrift SemiCondensed" panose="020B0502040204020203" pitchFamily="34" charset="0"/>
              </a:rPr>
              <a:t>Веб-фреймворк: </a:t>
            </a:r>
            <a:r>
              <a:rPr lang="en-US" dirty="0">
                <a:latin typeface="Bahnschrift SemiCondensed" panose="020B0502040204020203" pitchFamily="34" charset="0"/>
              </a:rPr>
              <a:t>Flask 2.3.3</a:t>
            </a:r>
          </a:p>
          <a:p>
            <a:pPr latinLnBrk="1">
              <a:lnSpc>
                <a:spcPct val="20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• </a:t>
            </a:r>
            <a:r>
              <a:rPr lang="ru-RU" dirty="0">
                <a:latin typeface="Bahnschrift SemiCondensed" panose="020B0502040204020203" pitchFamily="34" charset="0"/>
              </a:rPr>
              <a:t>База данных: </a:t>
            </a:r>
            <a:r>
              <a:rPr lang="en-US" dirty="0">
                <a:latin typeface="Bahnschrift SemiCondensed" panose="020B0502040204020203" pitchFamily="34" charset="0"/>
              </a:rPr>
              <a:t>PostgreSQL (</a:t>
            </a:r>
            <a:r>
              <a:rPr lang="ru-RU" dirty="0">
                <a:latin typeface="Bahnschrift SemiCondensed" panose="020B0502040204020203" pitchFamily="34" charset="0"/>
              </a:rPr>
              <a:t>продакшн) / </a:t>
            </a:r>
            <a:r>
              <a:rPr lang="en-US" dirty="0">
                <a:latin typeface="Bahnschrift SemiCondensed" panose="020B0502040204020203" pitchFamily="34" charset="0"/>
              </a:rPr>
              <a:t>SQLite (</a:t>
            </a:r>
            <a:r>
              <a:rPr lang="ru-RU" dirty="0">
                <a:latin typeface="Bahnschrift SemiCondensed" panose="020B0502040204020203" pitchFamily="34" charset="0"/>
              </a:rPr>
              <a:t>разработка)</a:t>
            </a:r>
          </a:p>
          <a:p>
            <a:pPr latinLnBrk="1">
              <a:lnSpc>
                <a:spcPct val="200000"/>
              </a:lnSpc>
            </a:pPr>
            <a:r>
              <a:rPr lang="ru-RU" dirty="0">
                <a:latin typeface="Bahnschrift SemiCondensed" panose="020B0502040204020203" pitchFamily="34" charset="0"/>
              </a:rPr>
              <a:t>• </a:t>
            </a:r>
            <a:r>
              <a:rPr lang="en-US" dirty="0">
                <a:latin typeface="Bahnschrift SemiCondensed" panose="020B0502040204020203" pitchFamily="34" charset="0"/>
              </a:rPr>
              <a:t>ORM: </a:t>
            </a:r>
            <a:r>
              <a:rPr lang="en-US" dirty="0" err="1">
                <a:latin typeface="Bahnschrift SemiCondensed" panose="020B0502040204020203" pitchFamily="34" charset="0"/>
              </a:rPr>
              <a:t>SQLAlchemy</a:t>
            </a:r>
            <a:r>
              <a:rPr lang="en-US" dirty="0">
                <a:latin typeface="Bahnschrift SemiCondensed" panose="020B0502040204020203" pitchFamily="34" charset="0"/>
              </a:rPr>
              <a:t> 3.0.5</a:t>
            </a:r>
          </a:p>
          <a:p>
            <a:pPr latinLnBrk="1">
              <a:lnSpc>
                <a:spcPct val="20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• </a:t>
            </a:r>
            <a:r>
              <a:rPr lang="ru-RU" dirty="0">
                <a:latin typeface="Bahnschrift SemiCondensed" panose="020B0502040204020203" pitchFamily="34" charset="0"/>
              </a:rPr>
              <a:t>Аутентификация: </a:t>
            </a:r>
            <a:r>
              <a:rPr lang="en-US" dirty="0">
                <a:latin typeface="Bahnschrift SemiCondensed" panose="020B0502040204020203" pitchFamily="34" charset="0"/>
              </a:rPr>
              <a:t>Flask-Login 0.6.3</a:t>
            </a:r>
          </a:p>
          <a:p>
            <a:pPr latinLnBrk="1">
              <a:lnSpc>
                <a:spcPct val="20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• </a:t>
            </a:r>
            <a:r>
              <a:rPr lang="ru-RU" dirty="0">
                <a:latin typeface="Bahnschrift SemiCondensed" panose="020B0502040204020203" pitchFamily="34" charset="0"/>
              </a:rPr>
              <a:t>Формы: </a:t>
            </a:r>
            <a:r>
              <a:rPr lang="en-US" dirty="0">
                <a:latin typeface="Bahnschrift SemiCondensed" panose="020B0502040204020203" pitchFamily="34" charset="0"/>
              </a:rPr>
              <a:t>Flask-WTF 1.1.1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5BBCBB-6601-22BE-1F62-F6F63CEE6245}"/>
              </a:ext>
            </a:extLst>
          </p:cNvPr>
          <p:cNvSpPr txBox="1"/>
          <p:nvPr/>
        </p:nvSpPr>
        <p:spPr>
          <a:xfrm>
            <a:off x="6123214" y="1580659"/>
            <a:ext cx="2383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 SemiCondensed" panose="020B0502040204020203" pitchFamily="34" charset="0"/>
              </a:rPr>
              <a:t>Frontend:</a:t>
            </a:r>
            <a:endParaRPr lang="ru-RU" sz="2400" dirty="0">
              <a:latin typeface="Bahnschrift SemiCondensed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ABE742-AD06-C9DA-E6C5-2778600683A5}"/>
              </a:ext>
            </a:extLst>
          </p:cNvPr>
          <p:cNvSpPr txBox="1"/>
          <p:nvPr/>
        </p:nvSpPr>
        <p:spPr>
          <a:xfrm>
            <a:off x="5459185" y="2422029"/>
            <a:ext cx="37120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ru-RU" sz="2000" dirty="0">
                <a:latin typeface="Bahnschrift SemiCondensed" panose="020B0502040204020203" pitchFamily="34" charset="0"/>
              </a:rPr>
              <a:t>• </a:t>
            </a:r>
            <a:r>
              <a:rPr lang="ru-RU" sz="2000" dirty="0" err="1">
                <a:latin typeface="Bahnschrift SemiCondensed" panose="020B0502040204020203" pitchFamily="34" charset="0"/>
              </a:rPr>
              <a:t>Шаблонизатор</a:t>
            </a:r>
            <a:r>
              <a:rPr lang="ru-RU" sz="2000" dirty="0">
                <a:latin typeface="Bahnschrift SemiCondensed" panose="020B0502040204020203" pitchFamily="34" charset="0"/>
              </a:rPr>
              <a:t>: </a:t>
            </a:r>
            <a:r>
              <a:rPr lang="en-US" sz="2000" dirty="0">
                <a:latin typeface="Bahnschrift SemiCondensed" panose="020B0502040204020203" pitchFamily="34" charset="0"/>
              </a:rPr>
              <a:t>Jinja2</a:t>
            </a:r>
          </a:p>
          <a:p>
            <a:pPr latinLnBrk="1">
              <a:lnSpc>
                <a:spcPct val="150000"/>
              </a:lnSpc>
            </a:pPr>
            <a:r>
              <a:rPr lang="en-US" sz="2000" dirty="0">
                <a:latin typeface="Bahnschrift SemiCondensed" panose="020B0502040204020203" pitchFamily="34" charset="0"/>
              </a:rPr>
              <a:t>• </a:t>
            </a:r>
            <a:r>
              <a:rPr lang="ru-RU" sz="2000" dirty="0">
                <a:latin typeface="Bahnschrift SemiCondensed" panose="020B0502040204020203" pitchFamily="34" charset="0"/>
              </a:rPr>
              <a:t>Стилизация: </a:t>
            </a:r>
            <a:r>
              <a:rPr lang="en-US" sz="2000" dirty="0">
                <a:latin typeface="Bahnschrift SemiCondensed" panose="020B0502040204020203" pitchFamily="34" charset="0"/>
              </a:rPr>
              <a:t>CSS, Bootstrap</a:t>
            </a:r>
          </a:p>
          <a:p>
            <a:pPr latinLnBrk="1">
              <a:lnSpc>
                <a:spcPct val="150000"/>
              </a:lnSpc>
            </a:pPr>
            <a:r>
              <a:rPr lang="en-US" sz="2000" dirty="0">
                <a:latin typeface="Bahnschrift SemiCondensed" panose="020B0502040204020203" pitchFamily="34" charset="0"/>
              </a:rPr>
              <a:t>• JavaScript: </a:t>
            </a:r>
            <a:r>
              <a:rPr lang="ru-RU" sz="2000" dirty="0">
                <a:latin typeface="Bahnschrift SemiCondensed" panose="020B0502040204020203" pitchFamily="34" charset="0"/>
              </a:rPr>
              <a:t>нативный </a:t>
            </a:r>
            <a:r>
              <a:rPr lang="en-US" sz="2000" dirty="0">
                <a:latin typeface="Bahnschrift SemiCondensed" panose="020B0502040204020203" pitchFamily="34" charset="0"/>
              </a:rPr>
              <a:t>JS </a:t>
            </a:r>
            <a:r>
              <a:rPr lang="ru-RU" sz="2000" dirty="0">
                <a:latin typeface="Bahnschrift SemiCondensed" panose="020B0502040204020203" pitchFamily="34" charset="0"/>
              </a:rPr>
              <a:t>для интерактивности</a:t>
            </a:r>
          </a:p>
          <a:p>
            <a:pPr latinLnBrk="1">
              <a:lnSpc>
                <a:spcPct val="150000"/>
              </a:lnSpc>
            </a:pPr>
            <a:r>
              <a:rPr lang="ru-RU" sz="2000" dirty="0">
                <a:latin typeface="Bahnschrift SemiCondensed" panose="020B0502040204020203" pitchFamily="34" charset="0"/>
              </a:rPr>
              <a:t>• Асинхронные запросы: </a:t>
            </a:r>
            <a:r>
              <a:rPr lang="en-US" sz="2000" dirty="0">
                <a:latin typeface="Bahnschrift SemiCondensed" panose="020B0502040204020203" pitchFamily="34" charset="0"/>
              </a:rPr>
              <a:t>Fetch API</a:t>
            </a:r>
          </a:p>
          <a:p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9C36EB-BB0C-D626-2D78-824828930D54}"/>
              </a:ext>
            </a:extLst>
          </p:cNvPr>
          <p:cNvSpPr txBox="1"/>
          <p:nvPr/>
        </p:nvSpPr>
        <p:spPr>
          <a:xfrm>
            <a:off x="10352314" y="1580659"/>
            <a:ext cx="2688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SemiCondensed" panose="020B0502040204020203" pitchFamily="34" charset="0"/>
              </a:rPr>
              <a:t>Инфраструктура</a:t>
            </a:r>
            <a:r>
              <a:rPr lang="en-US" sz="2400" dirty="0">
                <a:latin typeface="Bahnschrift SemiCondensed" panose="020B0502040204020203" pitchFamily="34" charset="0"/>
              </a:rPr>
              <a:t>:</a:t>
            </a:r>
            <a:r>
              <a:rPr lang="ru-RU" sz="2400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C994F3-BB31-0479-94E9-8C41991D84CD}"/>
              </a:ext>
            </a:extLst>
          </p:cNvPr>
          <p:cNvSpPr txBox="1"/>
          <p:nvPr/>
        </p:nvSpPr>
        <p:spPr>
          <a:xfrm>
            <a:off x="10450286" y="2503714"/>
            <a:ext cx="35705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ru-RU" dirty="0">
                <a:latin typeface="Bahnschrift SemiCondensed" panose="020B0502040204020203" pitchFamily="34" charset="0"/>
              </a:rPr>
              <a:t>• Хостинг: </a:t>
            </a:r>
            <a:r>
              <a:rPr lang="en-US" dirty="0">
                <a:latin typeface="Bahnschrift SemiCondensed" panose="020B0502040204020203" pitchFamily="34" charset="0"/>
              </a:rPr>
              <a:t>Render.com (Platform as a Service)</a:t>
            </a:r>
          </a:p>
          <a:p>
            <a:pPr latinLnBrk="1">
              <a:lnSpc>
                <a:spcPct val="15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• </a:t>
            </a:r>
            <a:r>
              <a:rPr lang="ru-RU" dirty="0">
                <a:latin typeface="Bahnschrift SemiCondensed" panose="020B0502040204020203" pitchFamily="34" charset="0"/>
              </a:rPr>
              <a:t>Сервер приложений: </a:t>
            </a:r>
            <a:r>
              <a:rPr lang="en-US" dirty="0" err="1">
                <a:latin typeface="Bahnschrift SemiCondensed" panose="020B0502040204020203" pitchFamily="34" charset="0"/>
              </a:rPr>
              <a:t>Gunicorn</a:t>
            </a:r>
            <a:r>
              <a:rPr lang="en-US" dirty="0">
                <a:latin typeface="Bahnschrift SemiCondensed" panose="020B0502040204020203" pitchFamily="34" charset="0"/>
              </a:rPr>
              <a:t> 20.1.0</a:t>
            </a:r>
          </a:p>
          <a:p>
            <a:pPr latinLnBrk="1">
              <a:lnSpc>
                <a:spcPct val="15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• </a:t>
            </a:r>
            <a:r>
              <a:rPr lang="ru-RU" dirty="0">
                <a:latin typeface="Bahnschrift SemiCondensed" panose="020B0502040204020203" pitchFamily="34" charset="0"/>
              </a:rPr>
              <a:t>Управление зависимостями: </a:t>
            </a:r>
            <a:r>
              <a:rPr lang="en-US" dirty="0">
                <a:latin typeface="Bahnschrift SemiCondensed" panose="020B0502040204020203" pitchFamily="34" charset="0"/>
              </a:rPr>
              <a:t>pip, requirements.txt</a:t>
            </a:r>
          </a:p>
          <a:p>
            <a:pPr latinLnBrk="1">
              <a:lnSpc>
                <a:spcPct val="15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• </a:t>
            </a:r>
            <a:r>
              <a:rPr lang="ru-RU" dirty="0">
                <a:latin typeface="Bahnschrift SemiCondensed" panose="020B0502040204020203" pitchFamily="34" charset="0"/>
              </a:rPr>
              <a:t>Контроль версий: </a:t>
            </a:r>
            <a:r>
              <a:rPr lang="en-US" dirty="0">
                <a:latin typeface="Bahnschrift SemiCondensed" panose="020B0502040204020203" pitchFamily="34" charset="0"/>
              </a:rPr>
              <a:t>Git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85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шаблон, прямоугольный, Симметрия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89BFB4-FEBB-0B27-9C57-F8FEE1730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750" y="1929283"/>
            <a:ext cx="4371033" cy="437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752EE6-3C90-4E09-A1AF-FB7AA191B841}"/>
              </a:ext>
            </a:extLst>
          </p:cNvPr>
          <p:cNvSpPr txBox="1"/>
          <p:nvPr/>
        </p:nvSpPr>
        <p:spPr>
          <a:xfrm>
            <a:off x="959617" y="871024"/>
            <a:ext cx="65716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Bahnschrift SemiCondensed" panose="020B0502040204020203" pitchFamily="34" charset="0"/>
              </a:rPr>
              <a:t>Присоединяйтесь к </a:t>
            </a:r>
            <a:r>
              <a:rPr lang="en-US" sz="4400" dirty="0" err="1">
                <a:latin typeface="Bahnschrift SemiCondensed" panose="020B0502040204020203" pitchFamily="34" charset="0"/>
              </a:rPr>
              <a:t>ColabHub</a:t>
            </a:r>
            <a:r>
              <a:rPr lang="en-US" sz="4400" dirty="0">
                <a:latin typeface="Bahnschrift SemiCondensed" panose="020B0502040204020203" pitchFamily="34" charset="0"/>
              </a:rPr>
              <a:t> </a:t>
            </a:r>
            <a:r>
              <a:rPr lang="ru-RU" sz="4400" dirty="0">
                <a:latin typeface="Bahnschrift SemiCondensed" panose="020B0502040204020203" pitchFamily="34" charset="0"/>
              </a:rPr>
              <a:t>прямо сейчас!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3DD7867-C898-74FE-BE58-248FED6994DE}"/>
              </a:ext>
            </a:extLst>
          </p:cNvPr>
          <p:cNvSpPr/>
          <p:nvPr/>
        </p:nvSpPr>
        <p:spPr>
          <a:xfrm>
            <a:off x="9299750" y="1929283"/>
            <a:ext cx="4371033" cy="437103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23A9C8-C787-A5B7-7F39-FC6653352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93198">
            <a:off x="5151965" y="1894767"/>
            <a:ext cx="3346855" cy="334685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EC43FC-B685-6974-73B1-E7057B7B9C5A}"/>
              </a:ext>
            </a:extLst>
          </p:cNvPr>
          <p:cNvSpPr/>
          <p:nvPr/>
        </p:nvSpPr>
        <p:spPr>
          <a:xfrm>
            <a:off x="0" y="7747279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0151DD0-7AED-524D-6A68-76761460F1FF}"/>
              </a:ext>
            </a:extLst>
          </p:cNvPr>
          <p:cNvSpPr/>
          <p:nvPr/>
        </p:nvSpPr>
        <p:spPr>
          <a:xfrm>
            <a:off x="0" y="0"/>
            <a:ext cx="14630400" cy="482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599DD-6D70-9598-93D3-DBC020743B1E}"/>
              </a:ext>
            </a:extLst>
          </p:cNvPr>
          <p:cNvSpPr txBox="1"/>
          <p:nvPr/>
        </p:nvSpPr>
        <p:spPr>
          <a:xfrm>
            <a:off x="130628" y="6300316"/>
            <a:ext cx="52904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SemiCondensed" panose="020B0502040204020203" pitchFamily="34" charset="0"/>
              </a:rPr>
              <a:t>Саткалиев Р.А – Разработчик </a:t>
            </a:r>
            <a:br>
              <a:rPr lang="ru-RU" sz="2000" dirty="0">
                <a:latin typeface="Bahnschrift SemiCondensed" panose="020B0502040204020203" pitchFamily="34" charset="0"/>
              </a:rPr>
            </a:br>
            <a:r>
              <a:rPr lang="ru-RU" sz="2000" dirty="0">
                <a:latin typeface="Bahnschrift SemiCondensed" panose="020B0502040204020203" pitchFamily="34" charset="0"/>
              </a:rPr>
              <a:t>Коблов И.И - Разработчик</a:t>
            </a:r>
            <a:br>
              <a:rPr lang="ru-RU" sz="2000" dirty="0">
                <a:latin typeface="Bahnschrift SemiCondensed" panose="020B0502040204020203" pitchFamily="34" charset="0"/>
              </a:rPr>
            </a:br>
            <a:r>
              <a:rPr lang="ru-RU" sz="2000" dirty="0">
                <a:latin typeface="Bahnschrift SemiCondensed" panose="020B0502040204020203" pitchFamily="34" charset="0"/>
              </a:rPr>
              <a:t>Ангелов Д.С – </a:t>
            </a:r>
            <a:r>
              <a:rPr lang="ru-RU" sz="2000" dirty="0" err="1">
                <a:latin typeface="Bahnschrift SemiCondensed" panose="020B0502040204020203" pitchFamily="34" charset="0"/>
              </a:rPr>
              <a:t>Крейтер</a:t>
            </a:r>
            <a:r>
              <a:rPr lang="ru-RU" sz="2000" dirty="0">
                <a:latin typeface="Bahnschrift SemiCondensed" panose="020B0502040204020203" pitchFamily="34" charset="0"/>
              </a:rPr>
              <a:t>, Дизайнер</a:t>
            </a:r>
            <a:br>
              <a:rPr lang="ru-RU" sz="2000" dirty="0">
                <a:latin typeface="Bahnschrift SemiCondensed" panose="020B0502040204020203" pitchFamily="34" charset="0"/>
              </a:rPr>
            </a:br>
            <a:r>
              <a:rPr lang="ru-RU" sz="2000" dirty="0" err="1">
                <a:latin typeface="Bahnschrift SemiCondensed" panose="020B0502040204020203" pitchFamily="34" charset="0"/>
              </a:rPr>
              <a:t>Деняков</a:t>
            </a:r>
            <a:r>
              <a:rPr lang="ru-RU" sz="2000" dirty="0">
                <a:latin typeface="Bahnschrift SemiCondensed" panose="020B0502040204020203" pitchFamily="34" charset="0"/>
              </a:rPr>
              <a:t> Е.М - Тестировщик</a:t>
            </a:r>
          </a:p>
        </p:txBody>
      </p:sp>
    </p:spTree>
    <p:extLst>
      <p:ext uri="{BB962C8B-B14F-4D97-AF65-F5344CB8AC3E}">
        <p14:creationId xmlns:p14="http://schemas.microsoft.com/office/powerpoint/2010/main" val="383613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466</Words>
  <Application>Microsoft Office PowerPoint</Application>
  <PresentationFormat>Произвольный</PresentationFormat>
  <Paragraphs>79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Alexandria</vt:lpstr>
      <vt:lpstr>Nirmala UI</vt:lpstr>
      <vt:lpstr>Bahnschrift SemiCondensed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gang</dc:creator>
  <cp:lastModifiedBy>Рамиль Саткалиев</cp:lastModifiedBy>
  <cp:revision>4</cp:revision>
  <dcterms:created xsi:type="dcterms:W3CDTF">2025-12-14T11:35:35Z</dcterms:created>
  <dcterms:modified xsi:type="dcterms:W3CDTF">2025-12-15T07:54:15Z</dcterms:modified>
</cp:coreProperties>
</file>