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Roboto" pitchFamily="2" charset="0"/>
      <p:regular r:id="rId10"/>
      <p:bold r:id="rId11"/>
      <p:italic r:id="rId12"/>
    </p:embeddedFont>
    <p:embeddedFont>
      <p:font typeface="Roboto Slab" pitchFamily="2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7B8"/>
    <a:srgbClr val="FB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116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Кривая цикла Гартнера: Навигатор инноваций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Кривая цикла Гартнера — ключевой аналитический инструмент для управления инновациями, визуализирующий жизненный путь технологии от ажиотажа до продуктивного использования. Помогает принимать взвешенные решения, избегая «пузырей» и внедряя зрелые решения.</a:t>
            </a:r>
            <a:endParaRPr lang="en-US" sz="17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509C7A-21C9-86A4-CF20-7F6849941F62}"/>
              </a:ext>
            </a:extLst>
          </p:cNvPr>
          <p:cNvSpPr/>
          <p:nvPr/>
        </p:nvSpPr>
        <p:spPr>
          <a:xfrm>
            <a:off x="12747171" y="7674429"/>
            <a:ext cx="1796143" cy="468085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9032"/>
            <a:ext cx="117409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Пять фаз жизненного цикла технологии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924758" y="2648426"/>
            <a:ext cx="3767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Технологический триггер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3884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Прорывное изобретение, первое исследование или прототип.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37790" y="1991439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Пик завышенных ожиданий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283618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Медийный шум, нереалистичные прогнозы, крупные инвестиции.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93010" y="3114080"/>
            <a:ext cx="339328" cy="3393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1256" y="3902154"/>
            <a:ext cx="3678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Пропасть разочарований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051256" y="4392573"/>
            <a:ext cx="37853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Технология не оправдывает надежд, скепсис, закрытие проектов.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37790" y="5821442"/>
            <a:ext cx="29400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Склон просвещения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937790" y="6311860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Понимание реальных выгод, устойчивые бизнес-модели, пилотные проекты.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15760" y="5523071"/>
            <a:ext cx="33767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Плато продуктивности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793790" y="6013490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Технология зрелая, надежная, широко принятая, массовая.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60C9C05-BAD5-C8AC-59DA-8ABBB6D375F5}"/>
              </a:ext>
            </a:extLst>
          </p:cNvPr>
          <p:cNvSpPr/>
          <p:nvPr/>
        </p:nvSpPr>
        <p:spPr>
          <a:xfrm>
            <a:off x="12747171" y="7674429"/>
            <a:ext cx="1796143" cy="468085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9486536-CAE1-684F-F61A-1FBF0578D878}"/>
              </a:ext>
            </a:extLst>
          </p:cNvPr>
          <p:cNvSpPr/>
          <p:nvPr/>
        </p:nvSpPr>
        <p:spPr>
          <a:xfrm>
            <a:off x="7761514" y="3114080"/>
            <a:ext cx="631372" cy="447913"/>
          </a:xfrm>
          <a:prstGeom prst="rect">
            <a:avLst/>
          </a:prstGeom>
          <a:solidFill>
            <a:srgbClr val="3257B8"/>
          </a:solidFill>
          <a:ln>
            <a:solidFill>
              <a:srgbClr val="325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252680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Стратегия по фазам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Анализ кривой Гартнера позволяет адаптировать стратегию: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2221468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</a:t>
            </a:r>
            <a:r>
              <a:rPr lang="en-US" sz="16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пике ожиданий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наблюдение, обучение, привлечение финансирования.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2953464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</a:t>
            </a:r>
            <a:r>
              <a:rPr lang="en-US" sz="16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пропасти разочарований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выгодные приобретения активов, решение конкретных проблем.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3685461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</a:t>
            </a:r>
            <a:r>
              <a:rPr lang="en-US" sz="16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склоне просвещения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</a:t>
            </a:r>
            <a:r>
              <a:rPr lang="en-US" sz="16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плато продуктивности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безопасные инвестиции, предсказуемая отдача.</a:t>
            </a:r>
            <a:endParaRPr lang="en-US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339E9F-7822-CBA4-F6A6-93CCBED9CF3F}"/>
              </a:ext>
            </a:extLst>
          </p:cNvPr>
          <p:cNvSpPr/>
          <p:nvPr/>
        </p:nvSpPr>
        <p:spPr>
          <a:xfrm>
            <a:off x="12747171" y="7674429"/>
            <a:ext cx="1796143" cy="468085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94093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Примеры современных трендов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851785"/>
            <a:ext cx="121920" cy="1730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Генеративный ИИ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599497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2023-2024 годах на </a:t>
            </a: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«Пике завышенных ожиданий»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851785"/>
            <a:ext cx="121920" cy="17308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Метавселенные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массового потребителя переживают </a:t>
            </a: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«Пропасть разочарований»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809411"/>
            <a:ext cx="121920" cy="17308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5066705"/>
            <a:ext cx="30018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Машинное обучение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промышленного анализа данных движется по </a:t>
            </a: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«Склону просвещения»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4809411"/>
            <a:ext cx="121920" cy="17308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5066705"/>
            <a:ext cx="33758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Облачные вычисления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 мобильные платежи достигли </a:t>
            </a: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«Плато продуктивности»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26A6894-15FF-557C-8E8C-1EEB3D0DA6BB}"/>
              </a:ext>
            </a:extLst>
          </p:cNvPr>
          <p:cNvSpPr/>
          <p:nvPr/>
        </p:nvSpPr>
        <p:spPr>
          <a:xfrm>
            <a:off x="12747171" y="7674429"/>
            <a:ext cx="1796143" cy="468085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89183"/>
            <a:ext cx="98219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Генеративный ИИ: Пик ожиданий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51590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Генеративный ИИ, такой как ChatGPT, в последние годы пережил взрывной рост интереса и инвестиций. Он находится на </a:t>
            </a: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«Пике завышенных ожиданий»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где медиа-шум и нереалистичные прогнозы создают огромный ажиотаж. Компании активно экспериментируют с его возможностями, но реальные бизнес-кейсы еще формируются.</a:t>
            </a:r>
            <a:endParaRPr lang="en-US" sz="175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67B47C1-6226-36D0-3EBC-7338BB7E05FF}"/>
              </a:ext>
            </a:extLst>
          </p:cNvPr>
          <p:cNvSpPr/>
          <p:nvPr/>
        </p:nvSpPr>
        <p:spPr>
          <a:xfrm>
            <a:off x="12747171" y="7674429"/>
            <a:ext cx="1796143" cy="468085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22462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Метавселенные: Пропасть разочарований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96703"/>
            <a:ext cx="4885015" cy="4885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828" y="2145625"/>
            <a:ext cx="760428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Технологии метавселенных для массового потребителя сейчас находятся в </a:t>
            </a: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«Пропасти разочарований»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После первоначального хайпа выяснилось, что технология не оправдала всех возложенных надежд, а коммерческие продукты оказались не столь успешными. Многие проекты закрываются, но это время для поиска реальных применений.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FA629C-10E4-4EF4-DC30-584D088676F5}"/>
              </a:ext>
            </a:extLst>
          </p:cNvPr>
          <p:cNvSpPr/>
          <p:nvPr/>
        </p:nvSpPr>
        <p:spPr>
          <a:xfrm>
            <a:off x="12747171" y="7674429"/>
            <a:ext cx="1796143" cy="468085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505"/>
            <a:ext cx="96477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Ограничения и ценность модели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6912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1136775" y="3200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Не точный прогноз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6775" y="407275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Кривая не учитывает глубину прорыва и не является точным предсказателем.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916912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</p:sp>
      <p:sp>
        <p:nvSpPr>
          <p:cNvPr id="9" name="Text 7"/>
          <p:cNvSpPr/>
          <p:nvPr/>
        </p:nvSpPr>
        <p:spPr>
          <a:xfrm>
            <a:off x="5333133" y="3200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Разная скорость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3776" y="407275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Скорость прохождения фаз сильно варьируется для разных технологий.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916912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9866948" y="3200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Ценный навигатор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66947" y="399704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Помогает отличить шумиху от реального прогресса и выстроить стратегию.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1120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Несмотря на ограничения, кривая Гартнера остается незаменимым инструментом для понимания зрелости технологий.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6E4E42A-5910-6F6C-4124-9A95D0B6C91E}"/>
              </a:ext>
            </a:extLst>
          </p:cNvPr>
          <p:cNvSpPr/>
          <p:nvPr/>
        </p:nvSpPr>
        <p:spPr>
          <a:xfrm>
            <a:off x="12747171" y="7674429"/>
            <a:ext cx="1796143" cy="468085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358</Words>
  <Application>Microsoft Office PowerPoint</Application>
  <PresentationFormat>Произвольный</PresentationFormat>
  <Paragraphs>46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Roboto</vt:lpstr>
      <vt:lpstr>Arial</vt:lpstr>
      <vt:lpstr>Roboto Slab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Shamik</dc:creator>
  <cp:lastModifiedBy>Рамиль Саткалиев</cp:lastModifiedBy>
  <cp:revision>4</cp:revision>
  <dcterms:created xsi:type="dcterms:W3CDTF">2025-12-16T13:24:12Z</dcterms:created>
  <dcterms:modified xsi:type="dcterms:W3CDTF">2025-12-24T17:43:18Z</dcterms:modified>
</cp:coreProperties>
</file>